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'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lt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defRPr sz="4400" kern="1200">
          <a:solidFill>
            <a:schemeClr val="dk2"/>
          </a:solidFill>
          <a:latin typeface="Times New Roman"/>
          <a:ea typeface="+mj-ea"/>
          <a:cs typeface="Times New Roman"/>
        </a:defRPr>
      </a:lvl1pPr>
    </p:titleStyle>
    <p:bodyStyle>
      <a:lvl1pPr marL="285750" indent="-285750">
        <a:defRPr sz="1800">
          <a:latin typeface="Times New Roman"/>
          <a:cs typeface="Times New Roman"/>
        </a:defRPr>
      </a:lvl1pPr>
    </p:bodyStyle>
    <p:otherStyle>
      <a:defPPr>
        <a:defRPr lang="uz-UZ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rlavha"/>
          <p:cNvSpPr>
            <a:spLocks noGrp="1"/>
          </p:cNvSpPr>
          <p:nvPr/>
        </p:nvSpPr>
        <p:spPr>
          <a:xfrm>
            <a:off x="685800" y="365760"/>
            <a:ext cx="10820400" cy="1143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/>
            <a:r>
              <a:rPr lang="uz-UZ" sz="4400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Kompyuterlar nima uchun qiziydi va qanday soviydi?</a:t>
            </a:r>
          </a:p>
        </p:txBody>
      </p:sp>
      <p:sp>
        <p:nvSpPr>
          <p:cNvPr id="3" name="Matn"/>
          <p:cNvSpPr>
            <a:spLocks noGrp="1"/>
          </p:cNvSpPr>
          <p:nvPr/>
        </p:nvSpPr>
        <p:spPr>
          <a:xfrm>
            <a:off x="685800" y="1676400"/>
            <a:ext cx="10820400" cy="481584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uz-UZ" sz="28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Protsessor ishlayotganda issiqlik ajralishi fizikasi va kulerlar (ventilyatorlar) yordamida sovutish</a:t>
            </a:r>
          </a:p>
          <a:p>
            <a:endParaRPr lang="uz-UZ" sz="1600"/>
          </a:p>
          <a:p>
            <a:pPr algn="ctr"/>
            <a:r>
              <a:rPr lang="uz-UZ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Taqdimotchi: Toshboʻriyeva Marjona (242_26 - guruh)</a:t>
            </a:r>
          </a:p>
          <a:p>
            <a:pPr algn="ctr"/>
            <a:r>
              <a:rPr lang="uz-UZ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Jizzax davlat pedagogika universiteti - Axborot tizimlari fani</a:t>
            </a:r>
          </a:p>
          <a:p>
            <a:endParaRPr lang="uz-UZ" sz="1600"/>
          </a:p>
          <a:p>
            <a:pPr algn="ctr"/>
            <a:r>
              <a:rPr lang="uz-UZ" sz="13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 (Unsplash): https://unsplash.com/photos/a-close-up-of-a-computer-processor-fPkvU7RDmCo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rlavha"/>
          <p:cNvSpPr>
            <a:spLocks noGrp="1"/>
          </p:cNvSpPr>
          <p:nvPr/>
        </p:nvSpPr>
        <p:spPr>
          <a:xfrm>
            <a:off x="685800" y="365760"/>
            <a:ext cx="10820400" cy="1143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3600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Reja</a:t>
            </a:r>
          </a:p>
        </p:txBody>
      </p:sp>
      <p:sp>
        <p:nvSpPr>
          <p:cNvPr id="3" name="Matn"/>
          <p:cNvSpPr>
            <a:spLocks noGrp="1"/>
          </p:cNvSpPr>
          <p:nvPr/>
        </p:nvSpPr>
        <p:spPr>
          <a:xfrm>
            <a:off x="685800" y="1676400"/>
            <a:ext cx="10820400" cy="481584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uz-UZ" sz="22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1-qism. Protsessor nima uchun qiziydi?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Tranzistorlar ishlashi, Joul-Lents qonuni va elektr energiyasining issiqlikka aylanishi.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22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2-qism. Issiqlikning oqibatlari.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Kompyuter qiziganda nima yuz beradi: trottling (throttling) va uning ishlash tezligiga taʼsiri.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22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3-qism. Sovutish fizikasi va mexanizmlari.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Radiatorlar, termopastaning vazifasi, kulerlar yordamida havoni soʻrib olish va haydash.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22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4-qism. Xulosa.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Issiqlik va sovutish balansining barqaror ishlashdagi ahamiyati.</a:t>
            </a:r>
          </a:p>
          <a:p>
            <a:r>
              <a:rPr lang="uz-UZ" sz="13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 (Unsplash): https://unsplash.com/photos/green-and-black-computer-motherboard-FO7JIlwjOtU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rlavha"/>
          <p:cNvSpPr>
            <a:spLocks noGrp="1"/>
          </p:cNvSpPr>
          <p:nvPr/>
        </p:nvSpPr>
        <p:spPr>
          <a:xfrm>
            <a:off x="685800" y="365760"/>
            <a:ext cx="10820400" cy="1143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3600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1-qism. Protsessor nima uchun qiziydi?</a:t>
            </a:r>
          </a:p>
        </p:txBody>
      </p:sp>
      <p:sp>
        <p:nvSpPr>
          <p:cNvPr id="3" name="Matn"/>
          <p:cNvSpPr>
            <a:spLocks noGrp="1"/>
          </p:cNvSpPr>
          <p:nvPr/>
        </p:nvSpPr>
        <p:spPr>
          <a:xfrm>
            <a:off x="685800" y="1676400"/>
            <a:ext cx="10820400" cy="481584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28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Tranzistorlar - protsessorning asosiy elementlari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Zamonaviy protsessor milliardlab mayda tranzistorlardan iborat boʻlib, ular elektron kalitlar vazifasini bajaradi.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 bir tranzistor soniyada millionlab marta ochilib-yopiladi (0 va 1 holatlar), bu esa elektr tokining uzluksiz oqishini talab qiladi.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Tranzistorlarning ochilib-yopilishida yarimoʻtkazgich materialning qarshiligi tufayli elektr energiyasining bir qismi issiqlikka aylanadi.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Tranzistorlar soni va chastota (GHz) qancha yuqori boʻlsa, ajralib chiqadigan issiqlik ham shuncha koʻp boʻladi.</a:t>
            </a:r>
          </a:p>
          <a:p>
            <a:r>
              <a:rPr lang="uz-UZ" sz="13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 (Unsplash): https://unsplash.com/photos/macro-photography-of-black-circuit-board-aQYgUYwnCsM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rlavha"/>
          <p:cNvSpPr>
            <a:spLocks noGrp="1"/>
          </p:cNvSpPr>
          <p:nvPr/>
        </p:nvSpPr>
        <p:spPr>
          <a:xfrm>
            <a:off x="685800" y="365760"/>
            <a:ext cx="10820400" cy="1143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3600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1-qism. Joul-Lents qonuni va energiya aylanishi</a:t>
            </a:r>
          </a:p>
        </p:txBody>
      </p:sp>
      <p:sp>
        <p:nvSpPr>
          <p:cNvPr id="3" name="Matn"/>
          <p:cNvSpPr>
            <a:spLocks noGrp="1"/>
          </p:cNvSpPr>
          <p:nvPr/>
        </p:nvSpPr>
        <p:spPr>
          <a:xfrm>
            <a:off x="685800" y="1676400"/>
            <a:ext cx="10820400" cy="481584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28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Elektr energiyasining issiqlikka aylanish fizikasi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2200" b="1" dirty="0">
                <a:solidFill>
                  <a:srgbClr val="0A93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Joul-Lents qonuni: Q = I² · R · 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yerda Q - ajralib chiqqan issiqlik miqdori, I - tok kuchi, R - oʻtkazgich qarshiligi, t - vaqt.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Oʻtkazgichdan tok oʻtganda zaryadlangan zarralar atom panjarasi bilan toʻqnashadi va energiyasining bir qismini issiqlik koʻrinishida yoʻqotadi.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 sababli protsessor qanchalik koʻp hisob-kitob bajarsa, tok kuchi (I) ortadi va ajralib chiqadigan issiqlik kvadratik ravishda koʻpayadi.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Ajralgan issiqlik vaqtida chiqarilmasa, kristall harorati xavfli darajaga koʻtariladi.</a:t>
            </a:r>
          </a:p>
          <a:p>
            <a:r>
              <a:rPr lang="uz-UZ" sz="13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 (Unsplash): https://unsplash.com/photos/a-close-up-of-a-blue-and-black-electronic-device-ZV_64LdGoao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rlavha"/>
          <p:cNvSpPr>
            <a:spLocks noGrp="1"/>
          </p:cNvSpPr>
          <p:nvPr/>
        </p:nvSpPr>
        <p:spPr>
          <a:xfrm>
            <a:off x="685800" y="365760"/>
            <a:ext cx="10820400" cy="1143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3600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2-qism. Issiqlikning oqibatlari</a:t>
            </a:r>
          </a:p>
        </p:txBody>
      </p:sp>
      <p:sp>
        <p:nvSpPr>
          <p:cNvPr id="3" name="Matn"/>
          <p:cNvSpPr>
            <a:spLocks noGrp="1"/>
          </p:cNvSpPr>
          <p:nvPr/>
        </p:nvSpPr>
        <p:spPr>
          <a:xfrm>
            <a:off x="685800" y="1676400"/>
            <a:ext cx="10820400" cy="481584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28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Kompyuter qiziganda nima yuz beradi?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Harorat belgilangan chegaradan oshsa, tizim barqarorligi buziladi va xatoliklar yuzaga keladi.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Ortiqcha issiqlik tranzistorlar va boshqa elektron komponentlarning tez eskirishiga olib keladi.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Haddan tashqari qizish natijasida kompyuter oʻz-oʻzidan oʻchib qolishi yoki qotib qolishi mumkin.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Shuning uchun protsessorda harorat datchiklari boʻlib, ular haroratni doimiy nazorat qilib turadi.</a:t>
            </a:r>
          </a:p>
          <a:p>
            <a:r>
              <a:rPr lang="uz-UZ" sz="13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 (Unsplash): https://unsplash.com/photos/red-and-black-abstract-illustration-mcSDtbWXUZU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rlavha"/>
          <p:cNvSpPr>
            <a:spLocks noGrp="1"/>
          </p:cNvSpPr>
          <p:nvPr/>
        </p:nvSpPr>
        <p:spPr>
          <a:xfrm>
            <a:off x="685800" y="365760"/>
            <a:ext cx="10820400" cy="1143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3600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2-qism. Trottling (Throttling) jarayoni</a:t>
            </a:r>
          </a:p>
        </p:txBody>
      </p:sp>
      <p:sp>
        <p:nvSpPr>
          <p:cNvPr id="3" name="Matn"/>
          <p:cNvSpPr>
            <a:spLocks noGrp="1"/>
          </p:cNvSpPr>
          <p:nvPr/>
        </p:nvSpPr>
        <p:spPr>
          <a:xfrm>
            <a:off x="685800" y="1676400"/>
            <a:ext cx="10820400" cy="481584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28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Himoya mexanizmi va uning tezlikka taʼsiri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Trottling - harorat xavfli chegaraga yetganda protsessor oʻz ish chastotasini (tezligini) atayin pasaytirishi.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Chastotaning pasayishi bilan tok kuchi kamayadi, natijada Joul-Lents qonuniga koʻra ajralib chiqadigan issiqlik ham kamayadi.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mexanizm protsessorni kuyib ketishdan saqlaydi, biroq kompyuterning umumiy ishlash tezligi sezilarli pasayadi.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Natijada oʻyinlar va ogʻir dasturlarda "sekinlashish" (lag) seziladi. Yaxshi sovutish trottlingni oldini oladi.</a:t>
            </a:r>
          </a:p>
          <a:p>
            <a:r>
              <a:rPr lang="uz-UZ" sz="13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 (Unsplash): https://unsplash.com/photos/a-computer-processor-with-the-letters-amd-on-it-Dawk-Nx-R3o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rlavha"/>
          <p:cNvSpPr>
            <a:spLocks noGrp="1"/>
          </p:cNvSpPr>
          <p:nvPr/>
        </p:nvSpPr>
        <p:spPr>
          <a:xfrm>
            <a:off x="685800" y="365760"/>
            <a:ext cx="10820400" cy="1143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3600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3-qism. Sovutish fizikasi: radiator va termopasta</a:t>
            </a:r>
          </a:p>
        </p:txBody>
      </p:sp>
      <p:sp>
        <p:nvSpPr>
          <p:cNvPr id="3" name="Matn"/>
          <p:cNvSpPr>
            <a:spLocks noGrp="1"/>
          </p:cNvSpPr>
          <p:nvPr/>
        </p:nvSpPr>
        <p:spPr>
          <a:xfrm>
            <a:off x="685800" y="1676400"/>
            <a:ext cx="10820400" cy="481584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28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Issiqlikni protsessordan uzatish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Radiator (issiqlik tarqatgich) - koʻp sonli metall qanotlardan iborat boʻlib, issiqlik almashinuv yuzasini kengaytiradi.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 va alyuminiy yuqori issiqlik oʻtkazuvchanligi tufayli radiatorlar uchun asosiy material hisoblanadi.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Termopasta protsessor va radiator orasidagi mikroskopik havo boʻshliqlarini toʻldiradi; havo issiqlikni yomon oʻtkazadi, pasta esa aloqani yaxshilaydi.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Shunday qilib issiqlik issiqlik oʻtkazuvchanlik orqali kristalldan radiatorga samarali uzatiladi.</a:t>
            </a:r>
          </a:p>
          <a:p>
            <a:r>
              <a:rPr lang="uz-UZ" sz="13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 (Unsplash): https://unsplash.com/photos/a-cpu-cooler-with-copper-heat-pipes-and-fins-9SoCnyQmkzI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rlavha"/>
          <p:cNvSpPr>
            <a:spLocks noGrp="1"/>
          </p:cNvSpPr>
          <p:nvPr/>
        </p:nvSpPr>
        <p:spPr>
          <a:xfrm>
            <a:off x="685800" y="365760"/>
            <a:ext cx="10820400" cy="1143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3600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3-qism. Kulerlar (ventilyatorlar) va havo oqimi</a:t>
            </a:r>
          </a:p>
        </p:txBody>
      </p:sp>
      <p:sp>
        <p:nvSpPr>
          <p:cNvPr id="3" name="Matn"/>
          <p:cNvSpPr>
            <a:spLocks noGrp="1"/>
          </p:cNvSpPr>
          <p:nvPr/>
        </p:nvSpPr>
        <p:spPr>
          <a:xfrm>
            <a:off x="685800" y="1676400"/>
            <a:ext cx="10820400" cy="481584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28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Havoni soʻrib olish va haydash jarayoni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Kuler (ventilyator) radiator qanotlari orqali havo oqimini hosil qiladi va qizigan havoni korpusdan tashqariga haydaydi.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jarayon konveksiya deb ataladi: harakatlanayotgan havo issiqlikni oʻzi bilan olib ketadi.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Korpusda havo balansi muhim: oldingi ventilyatorlar salqin havoni soʻrib oladi, orqadagilar esa issiq havoni haydaydi.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Suvli (suyuqlikli) sovutish tizimlarida issiqlik suyuqlik orqali radiatorga olib boriladi va u yerda ventilyatorlar bilan sovutiladi.</a:t>
            </a:r>
          </a:p>
          <a:p>
            <a:r>
              <a:rPr lang="uz-UZ" sz="13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 (Unsplash): https://unsplash.com/photos/black-computer-cooling-fan-RLy1pDgoYGw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rlavha"/>
          <p:cNvSpPr>
            <a:spLocks noGrp="1"/>
          </p:cNvSpPr>
          <p:nvPr/>
        </p:nvSpPr>
        <p:spPr>
          <a:xfrm>
            <a:off x="685800" y="365760"/>
            <a:ext cx="10820400" cy="1143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3600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4-qism. Xulosa</a:t>
            </a:r>
          </a:p>
        </p:txBody>
      </p:sp>
      <p:sp>
        <p:nvSpPr>
          <p:cNvPr id="3" name="Matn"/>
          <p:cNvSpPr>
            <a:spLocks noGrp="1"/>
          </p:cNvSpPr>
          <p:nvPr/>
        </p:nvSpPr>
        <p:spPr>
          <a:xfrm>
            <a:off x="685800" y="1676400"/>
            <a:ext cx="10820400" cy="481584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r>
              <a:rPr lang="uz-UZ" sz="2800" b="1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Issiqlik va sovutish balansining ahamiyati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Protsessordagi issiqlik elektr energiyasining issiqlikka aylanishi (Joul-Lents qonuni) tufayli muqarrar ravishda ajralib chiqadi.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Ajralgan issiqlik va chiqarilgan issiqlik oʻrtasidagi muvozanat tizim barqaror va samarali ishlashini taʼminlaydi.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Sifatli radiator, termopasta va toʻgʻri havo oqimi trottlingni oldini oladi va protsessor umrini uzaytiradi.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Demak, kompyuterning yuqori unumdorligi toʻgʻri tashkil etilgan sovutish tizimiga bevosita bogʻliqdir.</a:t>
            </a:r>
          </a:p>
          <a:p>
            <a:r>
              <a:rPr lang="uz-UZ" sz="13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 (Unsplash): https://unsplash.com/photos/a-computer-case-with-rgb-cooling-fans-mAcDFkmc5fU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rlavha"/>
          <p:cNvSpPr>
            <a:spLocks noGrp="1"/>
          </p:cNvSpPr>
          <p:nvPr/>
        </p:nvSpPr>
        <p:spPr>
          <a:xfrm>
            <a:off x="685800" y="365760"/>
            <a:ext cx="10820400" cy="1143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/>
            <a:r>
              <a:rPr lang="uz-UZ" sz="3600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Eʼtiboringiz uchun rahmat!</a:t>
            </a:r>
          </a:p>
        </p:txBody>
      </p:sp>
      <p:sp>
        <p:nvSpPr>
          <p:cNvPr id="3" name="Matn"/>
          <p:cNvSpPr>
            <a:spLocks noGrp="1"/>
          </p:cNvSpPr>
          <p:nvPr/>
        </p:nvSpPr>
        <p:spPr>
          <a:xfrm>
            <a:off x="685800" y="1676400"/>
            <a:ext cx="10820400" cy="481584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uz-UZ" sz="28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Savollaringiz uchun maydon ochiq.</a:t>
            </a:r>
          </a:p>
          <a:p>
            <a:endParaRPr lang="uz-UZ" sz="1600"/>
          </a:p>
          <a:p>
            <a:pPr algn="ctr"/>
            <a:r>
              <a:rPr lang="uz-UZ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Toshboʻriyeva Marjona (242_26 - guruh)</a:t>
            </a:r>
          </a:p>
          <a:p>
            <a:pPr algn="ctr"/>
            <a:r>
              <a:rPr lang="uz-U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Jizzax davlat pedagogika universiteti - Axborot tizimlari fani</a:t>
            </a:r>
          </a:p>
          <a:p>
            <a:endParaRPr lang="uz-UZ" sz="1600"/>
          </a:p>
          <a:p>
            <a:pPr algn="ctr"/>
            <a:r>
              <a:rPr lang="uz-UZ" sz="1300" dirty="0">
                <a:solidFill>
                  <a:srgbClr val="0E6B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Rasm (Unsplash): https://unsplash.com/photos/a-glowing-computer-cpu-on-a-dark-background-pfR18JNEl8s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Kompyuter texnologiyalari">
  <a:themeElements>
    <a:clrScheme name="Kompyuter">
      <a:dk1>
        <a:sysClr val="windowText" lastClr="000000"/>
      </a:dk1>
      <a:lt1>
        <a:sysClr val="window" lastClr="FFFFFF"/>
      </a:lt1>
      <a:dk2>
        <a:srgbClr val="0B2545"/>
      </a:dk2>
      <a:lt2>
        <a:srgbClr val="EEF4FB"/>
      </a:lt2>
      <a:accent1>
        <a:srgbClr val="0E6BA8"/>
      </a:accent1>
      <a:accent2>
        <a:srgbClr val="0A9396"/>
      </a:accent2>
      <a:accent3>
        <a:srgbClr val="13293D"/>
      </a:accent3>
      <a:accent4>
        <a:srgbClr val="2A9D8F"/>
      </a:accent4>
      <a:accent5>
        <a:srgbClr val="48CAE4"/>
      </a:accent5>
      <a:accent6>
        <a:srgbClr val="005377"/>
      </a:accent6>
      <a:hlink>
        <a:srgbClr val="0E6BA8"/>
      </a:hlink>
      <a:folHlink>
        <a:srgbClr val="005377"/>
      </a:folHlink>
    </a:clrScheme>
    <a:fontScheme name="Times New Rom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