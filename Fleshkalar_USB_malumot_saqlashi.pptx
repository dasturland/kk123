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latin typeface="Times New Roman"/>
        </a:defRPr>
      </a:lvl1pPr>
    </p:titleStyle>
    <p:bodyStyle>
      <a:lvl1pPr>
        <a:defRPr sz="1800">
          <a:latin typeface="Times New Roman"/>
        </a:defRPr>
      </a:lvl1pPr>
    </p:bodyStyle>
    <p:otherStyle>
      <a:lvl1pPr>
        <a:defRPr sz="1800">
          <a:latin typeface="Times New Roman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329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27E0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tbar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5AA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univ"/>
          <p:cNvSpPr>
            <a:spLocks noGrp="1"/>
          </p:cNvSpPr>
          <p:nvPr/>
        </p:nvSpPr>
        <p:spPr>
          <a:xfrm>
            <a:off x="686000" y="520000"/>
            <a:ext cx="10820000" cy="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2000" b="1" i="0" dirty="0">
                <a:solidFill>
                  <a:srgbClr val="5AA9FF"/>
                </a:solidFill>
                <a:latin typeface="Times New Roman"/>
                <a:cs typeface="Times New Roman"/>
              </a:rPr>
              <a:t>Jizzax davlat pedagogika universiteti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  <a:buNone/>
            </a:pPr>
            <a:r>
              <a:rPr lang="uz-UZ" sz="1600" b="0" i="1" dirty="0">
                <a:solidFill>
                  <a:srgbClr val="9FB8D8"/>
                </a:solidFill>
                <a:latin typeface="Times New Roman"/>
                <a:cs typeface="Times New Roman"/>
              </a:rPr>
              <a:t>Axborot tizimlari fani</a:t>
            </a:r>
          </a:p>
        </p:txBody>
      </p:sp>
      <p:pic>
        <p:nvPicPr>
          <p:cNvPr id="6" name="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00" y="1500000"/>
            <a:ext cx="10820000" cy="1315000"/>
          </a:xfrm>
          <a:prstGeom prst="rect">
            <a:avLst/>
          </a:prstGeom>
        </p:spPr>
      </p:pic>
      <p:sp>
        <p:nvSpPr>
          <p:cNvPr id="7" name="maintitle"/>
          <p:cNvSpPr>
            <a:spLocks noGrp="1"/>
          </p:cNvSpPr>
          <p:nvPr/>
        </p:nvSpPr>
        <p:spPr>
          <a:xfrm>
            <a:off x="686000" y="2950000"/>
            <a:ext cx="10820000" cy="1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3600" b="1" i="0" dirty="0">
                <a:solidFill>
                  <a:srgbClr val="EAF2FF"/>
                </a:solidFill>
                <a:latin typeface="Times New Roman"/>
                <a:cs typeface="Times New Roman"/>
              </a:rPr>
              <a:t>Fleshkalar (USB) qanday qilib ma'lumot saqlaydi?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  <a:buNone/>
            </a:pPr>
            <a:r>
              <a:rPr lang="uz-UZ" sz="1800" b="0" i="1" dirty="0">
                <a:solidFill>
                  <a:srgbClr val="27E0C8"/>
                </a:solidFill>
                <a:latin typeface="Times New Roman"/>
                <a:cs typeface="Times New Roman"/>
              </a:rPr>
              <a:t>Harakatlanuvchi qismlarsiz minglab rasmlarning elektr zaryadlari ko'rinishida saqlanishi</a:t>
            </a:r>
          </a:p>
        </p:txBody>
      </p:sp>
      <p:sp>
        <p:nvSpPr>
          <p:cNvPr id="8" name="presenter"/>
          <p:cNvSpPr>
            <a:spLocks noGrp="1"/>
          </p:cNvSpPr>
          <p:nvPr/>
        </p:nvSpPr>
        <p:spPr>
          <a:xfrm>
            <a:off x="686000" y="4680000"/>
            <a:ext cx="10820000" cy="8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800" b="1" i="0" dirty="0">
                <a:solidFill>
                  <a:srgbClr val="EAF2FF"/>
                </a:solidFill>
                <a:latin typeface="Times New Roman"/>
                <a:cs typeface="Times New Roman"/>
              </a:rPr>
              <a:t>Taqdimotchi: Toshboʻriyeva Marjona</a:t>
            </a:r>
          </a:p>
          <a:p>
            <a:pPr algn="ctr">
              <a:lnSpc>
                <a:spcPct val="110000"/>
              </a:lnSpc>
              <a:spcBef>
                <a:spcPts val="150"/>
              </a:spcBef>
              <a:buNone/>
            </a:pPr>
            <a:r>
              <a:rPr lang="uz-UZ" sz="1600" b="0" i="0" dirty="0">
                <a:solidFill>
                  <a:srgbClr val="9FB8D8"/>
                </a:solidFill>
                <a:latin typeface="Times New Roman"/>
                <a:cs typeface="Times New Roman"/>
              </a:rPr>
              <a:t>242_26 - guruh</a:t>
            </a:r>
          </a:p>
        </p:txBody>
      </p:sp>
      <p:sp>
        <p:nvSpPr>
          <p:cNvPr id="9" name="url_caption"/>
          <p:cNvSpPr>
            <a:spLocks noGrp="1"/>
          </p:cNvSpPr>
          <p:nvPr/>
        </p:nvSpPr>
        <p:spPr>
          <a:xfrm>
            <a:off x="686000" y="6098000"/>
            <a:ext cx="10820000" cy="640000"/>
          </a:xfrm>
          <a:prstGeom prst="rect">
            <a:avLst/>
          </a:prstGeom>
          <a:solidFill>
            <a:srgbClr val="12294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200" b="1" i="1" dirty="0">
                <a:solidFill>
                  <a:srgbClr val="5AA9FF"/>
                </a:solidFill>
                <a:latin typeface="Times New Roman"/>
                <a:cs typeface="Times New Roman"/>
              </a:rPr>
              <a:t>Vizual manba (Unsplash): 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buNone/>
            </a:pPr>
            <a:r>
              <a:rPr lang="uz-UZ" sz="1200" b="0" i="1" dirty="0">
                <a:solidFill>
                  <a:srgbClr val="9FB8D8"/>
                </a:solidFill>
                <a:latin typeface="Times New Roman"/>
                <a:cs typeface="Times New Roman"/>
              </a:rPr>
              <a:t>https://unsplash.com/photos/a-close-up-of-a-usb-flash-drive-on-a-table-9SoCnyQmkzI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686000" y="400000"/>
            <a:ext cx="70000" cy="760000"/>
          </a:xfrm>
          <a:prstGeom prst="rect">
            <a:avLst/>
          </a:prstGeom>
          <a:solidFill>
            <a:srgbClr val="27E0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856000" y="360000"/>
            <a:ext cx="10650000" cy="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3000" b="1" i="0" dirty="0">
                <a:solidFill>
                  <a:srgbClr val="EAF2FF"/>
                </a:solidFill>
                <a:latin typeface="Times New Roman"/>
                <a:cs typeface="Times New Roman"/>
              </a:rPr>
              <a:t>Taqdimot rejasi</a:t>
            </a:r>
          </a:p>
        </p:txBody>
      </p:sp>
      <p:sp>
        <p:nvSpPr>
          <p:cNvPr id="4" name="plan"/>
          <p:cNvSpPr>
            <a:spLocks noGrp="1"/>
          </p:cNvSpPr>
          <p:nvPr/>
        </p:nvSpPr>
        <p:spPr>
          <a:xfrm>
            <a:off x="686000" y="1500000"/>
            <a:ext cx="10820000" cy="32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uz-UZ" sz="2000" b="1" i="0" dirty="0">
                <a:solidFill>
                  <a:srgbClr val="27E0C8"/>
                </a:solidFill>
                <a:latin typeface="Times New Roman"/>
                <a:cs typeface="Times New Roman"/>
              </a:rPr>
              <a:t>1-qism.  </a:t>
            </a:r>
            <a:r>
              <a:rPr lang="uz-UZ" sz="2000" b="0" i="0" dirty="0">
                <a:solidFill>
                  <a:srgbClr val="EAF2FF"/>
                </a:solidFill>
                <a:latin typeface="Times New Roman"/>
                <a:cs typeface="Times New Roman"/>
              </a:rPr>
              <a:t>Fleshkalarning ishlash prinsipi va NAND xotira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uz-UZ" sz="2000" b="1" i="0" dirty="0">
                <a:solidFill>
                  <a:srgbClr val="27E0C8"/>
                </a:solidFill>
                <a:latin typeface="Times New Roman"/>
                <a:cs typeface="Times New Roman"/>
              </a:rPr>
              <a:t>2-qism.  </a:t>
            </a:r>
            <a:r>
              <a:rPr lang="uz-UZ" sz="2000" b="0" i="0" dirty="0">
                <a:solidFill>
                  <a:srgbClr val="EAF2FF"/>
                </a:solidFill>
                <a:latin typeface="Times New Roman"/>
                <a:cs typeface="Times New Roman"/>
              </a:rPr>
              <a:t>Ma'lumotlarni elektr zaryadi ko'rinishida saqlash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uz-UZ" sz="2000" b="1" i="0" dirty="0">
                <a:solidFill>
                  <a:srgbClr val="27E0C8"/>
                </a:solidFill>
                <a:latin typeface="Times New Roman"/>
                <a:cs typeface="Times New Roman"/>
              </a:rPr>
              <a:t>3-qism.  </a:t>
            </a:r>
            <a:r>
              <a:rPr lang="uz-UZ" sz="2000" b="0" i="0" dirty="0">
                <a:solidFill>
                  <a:srgbClr val="EAF2FF"/>
                </a:solidFill>
                <a:latin typeface="Times New Roman"/>
                <a:cs typeface="Times New Roman"/>
              </a:rPr>
              <a:t>Yozish, o'qish va o'chirish jarayonlari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uz-UZ" sz="2000" b="1" i="0" dirty="0">
                <a:solidFill>
                  <a:srgbClr val="5AA9FF"/>
                </a:solidFill>
                <a:latin typeface="Times New Roman"/>
                <a:cs typeface="Times New Roman"/>
              </a:rPr>
              <a:t>Xulosa.  </a:t>
            </a:r>
            <a:r>
              <a:rPr lang="uz-UZ" sz="2000" b="0" i="0" dirty="0">
                <a:solidFill>
                  <a:srgbClr val="EAF2FF"/>
                </a:solidFill>
                <a:latin typeface="Times New Roman"/>
                <a:cs typeface="Times New Roman"/>
              </a:rPr>
              <a:t>Fleshkalarning afzalliklari va texnologiya kelajagi</a:t>
            </a:r>
          </a:p>
        </p:txBody>
      </p:sp>
      <p:pic>
        <p:nvPicPr>
          <p:cNvPr id="5" name="banner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00" y="4860000"/>
            <a:ext cx="10820000" cy="1052000"/>
          </a:xfrm>
          <a:prstGeom prst="rect">
            <a:avLst/>
          </a:prstGeom>
        </p:spPr>
      </p:pic>
      <p:sp>
        <p:nvSpPr>
          <p:cNvPr id="6" name="url_caption"/>
          <p:cNvSpPr>
            <a:spLocks noGrp="1"/>
          </p:cNvSpPr>
          <p:nvPr/>
        </p:nvSpPr>
        <p:spPr>
          <a:xfrm>
            <a:off x="686000" y="6098000"/>
            <a:ext cx="10820000" cy="640000"/>
          </a:xfrm>
          <a:prstGeom prst="rect">
            <a:avLst/>
          </a:prstGeom>
          <a:solidFill>
            <a:srgbClr val="12294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200" b="1" i="1" dirty="0">
                <a:solidFill>
                  <a:srgbClr val="5AA9FF"/>
                </a:solidFill>
                <a:latin typeface="Times New Roman"/>
                <a:cs typeface="Times New Roman"/>
              </a:rPr>
              <a:t>Vizual manba (Unsplash): 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buNone/>
            </a:pPr>
            <a:r>
              <a:rPr lang="uz-UZ" sz="1200" b="0" i="1" dirty="0">
                <a:solidFill>
                  <a:srgbClr val="9FB8D8"/>
                </a:solidFill>
                <a:latin typeface="Times New Roman"/>
                <a:cs typeface="Times New Roman"/>
              </a:rPr>
              <a:t>https://unsplash.com/photos/black-and-silver-usb-flash-drive-ZV_64LdGoao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686000" y="400000"/>
            <a:ext cx="70000" cy="760000"/>
          </a:xfrm>
          <a:prstGeom prst="rect">
            <a:avLst/>
          </a:prstGeom>
          <a:solidFill>
            <a:srgbClr val="27E0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856000" y="360000"/>
            <a:ext cx="10650000" cy="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400" b="1" i="0" dirty="0">
                <a:solidFill>
                  <a:srgbClr val="27E0C8"/>
                </a:solidFill>
                <a:latin typeface="Times New Roman"/>
                <a:cs typeface="Times New Roman"/>
              </a:rPr>
              <a:t>1-QISM — NAND XOTIRA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uz-UZ" sz="3000" b="1" i="0" dirty="0">
                <a:solidFill>
                  <a:srgbClr val="EAF2FF"/>
                </a:solidFill>
                <a:latin typeface="Times New Roman"/>
                <a:cs typeface="Times New Roman"/>
              </a:rPr>
              <a:t>Fleshkaning ishlash prinsipi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6000" y="1500000"/>
            <a:ext cx="5571280" cy="3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Qattiq jism xotirasi (Solid-State).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Fleshkalar ma'lumotni butunlay elektron tarzda, yarimo'tkazgichli mikrosxemalarda saqlaydi.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Harakatlanuvchi qismlar yo'q.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Qattiq disklardan farqli ravishda fleshkalarda aylanuvchi plastinka yoki o'qiydigan boshcha mavjud emas.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NAND tuzilmasi.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Xotira katakchalari NAND mantiqiy sxemasi asosida zich qatorlarga birlashtirilib, kichik hajmda katta sig'imni ta'minlaydi.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Energiyasiz saqlash.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Ma'lumot elektr quvvati uzilgandan keyin ham saqlanib qoladi — bu energiyaga bog'liq bo'lmagan (non-volatile) xotira.</a:t>
            </a:r>
          </a:p>
        </p:txBody>
      </p:sp>
      <p:pic>
        <p:nvPicPr>
          <p:cNvPr id="5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280" y="1550000"/>
            <a:ext cx="4998720" cy="3767328"/>
          </a:xfrm>
          <a:prstGeom prst="rect">
            <a:avLst/>
          </a:prstGeom>
        </p:spPr>
      </p:pic>
      <p:sp>
        <p:nvSpPr>
          <p:cNvPr id="6" name="url_caption"/>
          <p:cNvSpPr>
            <a:spLocks noGrp="1"/>
          </p:cNvSpPr>
          <p:nvPr/>
        </p:nvSpPr>
        <p:spPr>
          <a:xfrm>
            <a:off x="686000" y="6098000"/>
            <a:ext cx="10820000" cy="640000"/>
          </a:xfrm>
          <a:prstGeom prst="rect">
            <a:avLst/>
          </a:prstGeom>
          <a:solidFill>
            <a:srgbClr val="12294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200" b="1" i="1" dirty="0">
                <a:solidFill>
                  <a:srgbClr val="5AA9FF"/>
                </a:solidFill>
                <a:latin typeface="Times New Roman"/>
                <a:cs typeface="Times New Roman"/>
              </a:rPr>
              <a:t>Vizual manba (Unsplash): 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buNone/>
            </a:pPr>
            <a:r>
              <a:rPr lang="uz-UZ" sz="1200" b="0" i="1" dirty="0">
                <a:solidFill>
                  <a:srgbClr val="9FB8D8"/>
                </a:solidFill>
                <a:latin typeface="Times New Roman"/>
                <a:cs typeface="Times New Roman"/>
              </a:rPr>
              <a:t>https://unsplash.com/photos/macro-shot-of-a-circuit-board-FO7JIlwjOtU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686000" y="400000"/>
            <a:ext cx="70000" cy="760000"/>
          </a:xfrm>
          <a:prstGeom prst="rect">
            <a:avLst/>
          </a:prstGeom>
          <a:solidFill>
            <a:srgbClr val="27E0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856000" y="360000"/>
            <a:ext cx="10650000" cy="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400" b="1" i="0" dirty="0">
                <a:solidFill>
                  <a:srgbClr val="27E0C8"/>
                </a:solidFill>
                <a:latin typeface="Times New Roman"/>
                <a:cs typeface="Times New Roman"/>
              </a:rPr>
              <a:t>1-QISM — NAND XOTIRA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uz-UZ" sz="3000" b="1" i="0" dirty="0">
                <a:solidFill>
                  <a:srgbClr val="EAF2FF"/>
                </a:solidFill>
                <a:latin typeface="Times New Roman"/>
                <a:cs typeface="Times New Roman"/>
              </a:rPr>
              <a:t>NAND xotira katakchalari tuzilishi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6000" y="1500000"/>
            <a:ext cx="5571280" cy="3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Xotira katakchasi (cell).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Ma'lumotning eng kichik birligi maxsus tranzistorda saqlanadi; har bir katakcha bir yoki bir nechta bitni ifodalaydi.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Qatorlar va ustunlar.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Katakchalar o'zaro ulanib, so'z chiziqlari (word line) va bit chiziqlari (bit line) to'rini hosil qiladi.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Zichlik va sig'im.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3D NAND texnologiyasida katakchalar vertikal qatlamlab joylashtirilib, sig'im sezilarli oshiriladi.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Ishonchlilik.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Xatolarni tuzatuvchi kodlar (ECC) va kiyilishni taqsimlash (wear leveling) ma'lumot butunligini saqlaydi.</a:t>
            </a:r>
          </a:p>
        </p:txBody>
      </p:sp>
      <p:pic>
        <p:nvPicPr>
          <p:cNvPr id="5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280" y="1550000"/>
            <a:ext cx="4998720" cy="3767328"/>
          </a:xfrm>
          <a:prstGeom prst="rect">
            <a:avLst/>
          </a:prstGeom>
        </p:spPr>
      </p:pic>
      <p:sp>
        <p:nvSpPr>
          <p:cNvPr id="6" name="url_caption"/>
          <p:cNvSpPr>
            <a:spLocks noGrp="1"/>
          </p:cNvSpPr>
          <p:nvPr/>
        </p:nvSpPr>
        <p:spPr>
          <a:xfrm>
            <a:off x="686000" y="6098000"/>
            <a:ext cx="10820000" cy="640000"/>
          </a:xfrm>
          <a:prstGeom prst="rect">
            <a:avLst/>
          </a:prstGeom>
          <a:solidFill>
            <a:srgbClr val="12294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200" b="1" i="1" dirty="0">
                <a:solidFill>
                  <a:srgbClr val="5AA9FF"/>
                </a:solidFill>
                <a:latin typeface="Times New Roman"/>
                <a:cs typeface="Times New Roman"/>
              </a:rPr>
              <a:t>Vizual manba (Unsplash): 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buNone/>
            </a:pPr>
            <a:r>
              <a:rPr lang="uz-UZ" sz="1200" b="0" i="1" dirty="0">
                <a:solidFill>
                  <a:srgbClr val="9FB8D8"/>
                </a:solidFill>
                <a:latin typeface="Times New Roman"/>
                <a:cs typeface="Times New Roman"/>
              </a:rPr>
              <a:t>https://unsplash.com/photos/green-computer-circuit-board-wtpVH-C58FA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686000" y="400000"/>
            <a:ext cx="70000" cy="760000"/>
          </a:xfrm>
          <a:prstGeom prst="rect">
            <a:avLst/>
          </a:prstGeom>
          <a:solidFill>
            <a:srgbClr val="27E0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856000" y="360000"/>
            <a:ext cx="10650000" cy="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400" b="1" i="0" dirty="0">
                <a:solidFill>
                  <a:srgbClr val="27E0C8"/>
                </a:solidFill>
                <a:latin typeface="Times New Roman"/>
                <a:cs typeface="Times New Roman"/>
              </a:rPr>
              <a:t>2-QISM — ZARYAD KO'RINISHIDA SAQLASH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uz-UZ" sz="3000" b="1" i="0" dirty="0">
                <a:solidFill>
                  <a:srgbClr val="EAF2FF"/>
                </a:solidFill>
                <a:latin typeface="Times New Roman"/>
                <a:cs typeface="Times New Roman"/>
              </a:rPr>
              <a:t>Suzuvchi zulfin (Floating Gate) tranzistori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6000" y="1500000"/>
            <a:ext cx="5571280" cy="3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Suzuvchi zulfin.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Har bir katakchada ikki qavatli zulfinli tranzistor bo'lib, ulardan biri izolyator bilan to'liq o'ralgan suzuvchi zulfindir.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Elektronlarni qamab qo'yish.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Elektronlar suzuvchi zulfinga kiritilib, oksid qatlam ularning chiqib ketishiga yo'l qo'ymaydi — zaryad shu yerda qamalib qoladi.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Doimiy saqlash fizikasi.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Izolyatsiya tufayli zaryad quvvat uzilsa ham yillar davomida saqlanadi, bu esa ma'lumotning doimiyligini ta'minlaydi.</a:t>
            </a:r>
          </a:p>
        </p:txBody>
      </p:sp>
      <p:pic>
        <p:nvPicPr>
          <p:cNvPr id="5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280" y="1550000"/>
            <a:ext cx="4998720" cy="3767328"/>
          </a:xfrm>
          <a:prstGeom prst="rect">
            <a:avLst/>
          </a:prstGeom>
        </p:spPr>
      </p:pic>
      <p:sp>
        <p:nvSpPr>
          <p:cNvPr id="6" name="url_caption"/>
          <p:cNvSpPr>
            <a:spLocks noGrp="1"/>
          </p:cNvSpPr>
          <p:nvPr/>
        </p:nvSpPr>
        <p:spPr>
          <a:xfrm>
            <a:off x="686000" y="6098000"/>
            <a:ext cx="10820000" cy="640000"/>
          </a:xfrm>
          <a:prstGeom prst="rect">
            <a:avLst/>
          </a:prstGeom>
          <a:solidFill>
            <a:srgbClr val="12294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200" b="1" i="1" dirty="0">
                <a:solidFill>
                  <a:srgbClr val="5AA9FF"/>
                </a:solidFill>
                <a:latin typeface="Times New Roman"/>
                <a:cs typeface="Times New Roman"/>
              </a:rPr>
              <a:t>Vizual manba (Unsplash): 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buNone/>
            </a:pPr>
            <a:r>
              <a:rPr lang="uz-UZ" sz="1200" b="0" i="1" dirty="0">
                <a:solidFill>
                  <a:srgbClr val="9FB8D8"/>
                </a:solidFill>
                <a:latin typeface="Times New Roman"/>
                <a:cs typeface="Times New Roman"/>
              </a:rPr>
              <a:t>https://unsplash.com/photos/microchip-close-up-electronics-ZO02-30bFfs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686000" y="400000"/>
            <a:ext cx="70000" cy="760000"/>
          </a:xfrm>
          <a:prstGeom prst="rect">
            <a:avLst/>
          </a:prstGeom>
          <a:solidFill>
            <a:srgbClr val="27E0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856000" y="360000"/>
            <a:ext cx="10650000" cy="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400" b="1" i="0" dirty="0">
                <a:solidFill>
                  <a:srgbClr val="27E0C8"/>
                </a:solidFill>
                <a:latin typeface="Times New Roman"/>
                <a:cs typeface="Times New Roman"/>
              </a:rPr>
              <a:t>2-QISM — ZARYAD KO'RINISHIDA SAQLASH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uz-UZ" sz="3000" b="1" i="0" dirty="0">
                <a:solidFill>
                  <a:srgbClr val="EAF2FF"/>
                </a:solidFill>
                <a:latin typeface="Times New Roman"/>
                <a:cs typeface="Times New Roman"/>
              </a:rPr>
              <a:t>Zaryad qanday qilib ma'lumotga aylanadi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6000" y="1500000"/>
            <a:ext cx="5571280" cy="3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Zaryad miqdori — holat.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Suzuvchi zulfindagi elektronlar mavjudligi yoki yo'qligi katakchaning mantiqiy holatini belgilaydi.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Chegaraviy kuchlanish.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Qamalgan zaryad tranzistorning ochilish kuchlanishini o'zgartiradi; aynan shu farq o'qish paytida aniqlanadi.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Ko'p bitli katakchalar.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MLC, TLC va QLC texnologiyalarida bitta katakcha zaryadning bir necha darajasini saqlab, 2, 3 yoki 4 bitni ifodalaydi.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Barqarorlik.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Zaryad darajalari aniq o'lchanadigan oraliqlarga bo'linib, ma'lumot ishonchli tiklanadi.</a:t>
            </a:r>
          </a:p>
        </p:txBody>
      </p:sp>
      <p:pic>
        <p:nvPicPr>
          <p:cNvPr id="5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280" y="1550000"/>
            <a:ext cx="4998720" cy="3767328"/>
          </a:xfrm>
          <a:prstGeom prst="rect">
            <a:avLst/>
          </a:prstGeom>
        </p:spPr>
      </p:pic>
      <p:sp>
        <p:nvSpPr>
          <p:cNvPr id="6" name="url_caption"/>
          <p:cNvSpPr>
            <a:spLocks noGrp="1"/>
          </p:cNvSpPr>
          <p:nvPr/>
        </p:nvSpPr>
        <p:spPr>
          <a:xfrm>
            <a:off x="686000" y="6098000"/>
            <a:ext cx="10820000" cy="640000"/>
          </a:xfrm>
          <a:prstGeom prst="rect">
            <a:avLst/>
          </a:prstGeom>
          <a:solidFill>
            <a:srgbClr val="12294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200" b="1" i="1" dirty="0">
                <a:solidFill>
                  <a:srgbClr val="5AA9FF"/>
                </a:solidFill>
                <a:latin typeface="Times New Roman"/>
                <a:cs typeface="Times New Roman"/>
              </a:rPr>
              <a:t>Vizual manba (Unsplash): 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buNone/>
            </a:pPr>
            <a:r>
              <a:rPr lang="uz-UZ" sz="1200" b="0" i="1" dirty="0">
                <a:solidFill>
                  <a:srgbClr val="9FB8D8"/>
                </a:solidFill>
                <a:latin typeface="Times New Roman"/>
                <a:cs typeface="Times New Roman"/>
              </a:rPr>
              <a:t>https://unsplash.com/photos/silicon-wafer-semiconductor-5fNmWej4tAA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686000" y="400000"/>
            <a:ext cx="70000" cy="760000"/>
          </a:xfrm>
          <a:prstGeom prst="rect">
            <a:avLst/>
          </a:prstGeom>
          <a:solidFill>
            <a:srgbClr val="27E0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856000" y="360000"/>
            <a:ext cx="10650000" cy="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400" b="1" i="0" dirty="0">
                <a:solidFill>
                  <a:srgbClr val="27E0C8"/>
                </a:solidFill>
                <a:latin typeface="Times New Roman"/>
                <a:cs typeface="Times New Roman"/>
              </a:rPr>
              <a:t>3-QISM — JARAYONLAR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uz-UZ" sz="3000" b="1" i="0" dirty="0">
                <a:solidFill>
                  <a:srgbClr val="EAF2FF"/>
                </a:solidFill>
                <a:latin typeface="Times New Roman"/>
                <a:cs typeface="Times New Roman"/>
              </a:rPr>
              <a:t>Yozish, o'qish va o'chirish jarayonlari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6000" y="1500000"/>
            <a:ext cx="5571280" cy="3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Yozish.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Yuqori kuchlanish ta'sirida elektronlar oksid qatlamdan o'tib (tunnel effekti) suzuvchi zulfinga joylashtiriladi.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O'qish.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Katakchaga kichik kuchlanish berilib, tok o'tishi tekshiriladi va zaryad holati 0 yoki 1 sifatida aniqlanadi.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O'chirish.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Teskari kuchlanish zaryadni suzuvchi zulfindan chiqarib yuboradi; o'chirish bloklar bo'yicha amalga oshiriladi.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Ikkilik sanoq sistemasi.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Zaryad bor holat — 0, zaryad yo'q holat — 1 (yoki aksincha) sifatida talqin qilinadi.</a:t>
            </a:r>
          </a:p>
        </p:txBody>
      </p:sp>
      <p:pic>
        <p:nvPicPr>
          <p:cNvPr id="5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280" y="1550000"/>
            <a:ext cx="4998720" cy="3767328"/>
          </a:xfrm>
          <a:prstGeom prst="rect">
            <a:avLst/>
          </a:prstGeom>
        </p:spPr>
      </p:pic>
      <p:sp>
        <p:nvSpPr>
          <p:cNvPr id="6" name="url_caption"/>
          <p:cNvSpPr>
            <a:spLocks noGrp="1"/>
          </p:cNvSpPr>
          <p:nvPr/>
        </p:nvSpPr>
        <p:spPr>
          <a:xfrm>
            <a:off x="686000" y="6098000"/>
            <a:ext cx="10820000" cy="640000"/>
          </a:xfrm>
          <a:prstGeom prst="rect">
            <a:avLst/>
          </a:prstGeom>
          <a:solidFill>
            <a:srgbClr val="12294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200" b="1" i="1" dirty="0">
                <a:solidFill>
                  <a:srgbClr val="5AA9FF"/>
                </a:solidFill>
                <a:latin typeface="Times New Roman"/>
                <a:cs typeface="Times New Roman"/>
              </a:rPr>
              <a:t>Vizual manba (Unsplash): 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buNone/>
            </a:pPr>
            <a:r>
              <a:rPr lang="uz-UZ" sz="1200" b="0" i="1" dirty="0">
                <a:solidFill>
                  <a:srgbClr val="9FB8D8"/>
                </a:solidFill>
                <a:latin typeface="Times New Roman"/>
                <a:cs typeface="Times New Roman"/>
              </a:rPr>
              <a:t>https://unsplash.com/photos/binary-code-digital-data-stream-xkBaqlcqeb4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686000" y="400000"/>
            <a:ext cx="70000" cy="760000"/>
          </a:xfrm>
          <a:prstGeom prst="rect">
            <a:avLst/>
          </a:prstGeom>
          <a:solidFill>
            <a:srgbClr val="27E0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856000" y="360000"/>
            <a:ext cx="10650000" cy="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400" b="1" i="0" dirty="0">
                <a:solidFill>
                  <a:srgbClr val="27E0C8"/>
                </a:solidFill>
                <a:latin typeface="Times New Roman"/>
                <a:cs typeface="Times New Roman"/>
              </a:rPr>
              <a:t>3-QISM — JARAYONLAR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uz-UZ" sz="3000" b="1" i="0" dirty="0">
                <a:solidFill>
                  <a:srgbClr val="EAF2FF"/>
                </a:solidFill>
                <a:latin typeface="Times New Roman"/>
                <a:cs typeface="Times New Roman"/>
              </a:rPr>
              <a:t>Minglab rasm elektron axborot sifatida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6000" y="1500000"/>
            <a:ext cx="5571280" cy="3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Rasm — baytlar to'plami.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Har bir rasm pikesllardan, piksellar esa 0 va 1 lardan iborat baytlar ketma-ketligi sifatida kodlanadi.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Baytlardan katakchalarga.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Bu bitlar millionlab xotira katakchalaridagi zaryad holatlari orqali fizik tarzda saqlanadi.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Katta sig'im.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Mikrosxemadagi katakchalar soni milliardlab bo'lgani uchun bitta fleshka minglab yuqori sifatli rasmni saqlay oladi.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27E0C8"/>
                </a:solidFill>
                <a:latin typeface="Times New Roman"/>
                <a:cs typeface="Times New Roman"/>
              </a:rPr>
              <a:t>Manzillash.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Boshqaruvchi (controller) har bir faylni aniq manzillarga joylashtirib, keyinchalik xatosiz tiklaydi.</a:t>
            </a:r>
          </a:p>
        </p:txBody>
      </p:sp>
      <p:pic>
        <p:nvPicPr>
          <p:cNvPr id="5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280" y="1550000"/>
            <a:ext cx="4998720" cy="3767328"/>
          </a:xfrm>
          <a:prstGeom prst="rect">
            <a:avLst/>
          </a:prstGeom>
        </p:spPr>
      </p:pic>
      <p:sp>
        <p:nvSpPr>
          <p:cNvPr id="6" name="url_caption"/>
          <p:cNvSpPr>
            <a:spLocks noGrp="1"/>
          </p:cNvSpPr>
          <p:nvPr/>
        </p:nvSpPr>
        <p:spPr>
          <a:xfrm>
            <a:off x="686000" y="6098000"/>
            <a:ext cx="10820000" cy="640000"/>
          </a:xfrm>
          <a:prstGeom prst="rect">
            <a:avLst/>
          </a:prstGeom>
          <a:solidFill>
            <a:srgbClr val="12294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200" b="1" i="1" dirty="0">
                <a:solidFill>
                  <a:srgbClr val="5AA9FF"/>
                </a:solidFill>
                <a:latin typeface="Times New Roman"/>
                <a:cs typeface="Times New Roman"/>
              </a:rPr>
              <a:t>Vizual manba (Unsplash): 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buNone/>
            </a:pPr>
            <a:r>
              <a:rPr lang="uz-UZ" sz="1200" b="0" i="1" dirty="0">
                <a:solidFill>
                  <a:srgbClr val="9FB8D8"/>
                </a:solidFill>
                <a:latin typeface="Times New Roman"/>
                <a:cs typeface="Times New Roman"/>
              </a:rPr>
              <a:t>https://unsplash.com/photos/colorful-photo-gallery-thumbnails-on-screen-2JEWnQ6y1Ac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686000" y="400000"/>
            <a:ext cx="70000" cy="760000"/>
          </a:xfrm>
          <a:prstGeom prst="rect">
            <a:avLst/>
          </a:prstGeom>
          <a:solidFill>
            <a:srgbClr val="27E0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856000" y="360000"/>
            <a:ext cx="10650000" cy="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400" b="1" i="0" dirty="0">
                <a:solidFill>
                  <a:srgbClr val="27E0C8"/>
                </a:solidFill>
                <a:latin typeface="Times New Roman"/>
                <a:cs typeface="Times New Roman"/>
              </a:rPr>
              <a:t>4-QISM — XULOSA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uz-UZ" sz="3000" b="1" i="0" dirty="0">
                <a:solidFill>
                  <a:srgbClr val="EAF2FF"/>
                </a:solidFill>
                <a:latin typeface="Times New Roman"/>
                <a:cs typeface="Times New Roman"/>
              </a:rPr>
              <a:t>Xulosa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6000" y="1500000"/>
            <a:ext cx="5571280" cy="3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5AA9FF"/>
                </a:solidFill>
                <a:latin typeface="Times New Roman"/>
                <a:cs typeface="Times New Roman"/>
              </a:rPr>
              <a:t>Afzalliklari.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Fleshkalar ixcham, yengil, tez va energiya tejamkor bo'lib, kundalik ma'lumot almashinuvini osonlashtiradi.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5AA9FF"/>
                </a:solidFill>
                <a:latin typeface="Times New Roman"/>
                <a:cs typeface="Times New Roman"/>
              </a:rPr>
              <a:t>Chidamliligi.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Harakatlanuvchi qismlar yo'qligi tufayli ular zarba va tebranishga chidamli, mexanik buzilishlarga kam uchraydi.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5AA9FF"/>
                </a:solidFill>
                <a:latin typeface="Times New Roman"/>
                <a:cs typeface="Times New Roman"/>
              </a:rPr>
              <a:t>Texnologiya kelajagi.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3D NAND va yangi yarimo'tkazgich materiallari sig'imni oshirib, narxni pasaytirmoqda — kelajakda yanada tezroq xotira kutilmoqda.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Times New Roman"/>
              <a:buChar char="•"/>
            </a:pPr>
            <a:r>
              <a:rPr lang="uz-UZ" sz="1700" b="1" i="0" dirty="0">
                <a:solidFill>
                  <a:srgbClr val="5AA9FF"/>
                </a:solidFill>
                <a:latin typeface="Times New Roman"/>
                <a:cs typeface="Times New Roman"/>
              </a:rPr>
              <a:t>Umumiy xulosa. </a:t>
            </a:r>
            <a:r>
              <a:rPr lang="uz-UZ" sz="1500" b="0" i="0" dirty="0">
                <a:solidFill>
                  <a:srgbClr val="EAF2FF"/>
                </a:solidFill>
                <a:latin typeface="Times New Roman"/>
                <a:cs typeface="Times New Roman"/>
              </a:rPr>
              <a:t>Fleshka — bu harakatsiz, lekin elektr zaryadlari asosida ishlaydigan ishonchli raqamli xotira yechimidir.</a:t>
            </a:r>
          </a:p>
        </p:txBody>
      </p:sp>
      <p:pic>
        <p:nvPicPr>
          <p:cNvPr id="5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280" y="1550000"/>
            <a:ext cx="4998720" cy="3767328"/>
          </a:xfrm>
          <a:prstGeom prst="rect">
            <a:avLst/>
          </a:prstGeom>
        </p:spPr>
      </p:pic>
      <p:sp>
        <p:nvSpPr>
          <p:cNvPr id="6" name="url_caption"/>
          <p:cNvSpPr>
            <a:spLocks noGrp="1"/>
          </p:cNvSpPr>
          <p:nvPr/>
        </p:nvSpPr>
        <p:spPr>
          <a:xfrm>
            <a:off x="686000" y="6098000"/>
            <a:ext cx="10820000" cy="640000"/>
          </a:xfrm>
          <a:prstGeom prst="rect">
            <a:avLst/>
          </a:prstGeom>
          <a:solidFill>
            <a:srgbClr val="12294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200" b="1" i="1" dirty="0">
                <a:solidFill>
                  <a:srgbClr val="5AA9FF"/>
                </a:solidFill>
                <a:latin typeface="Times New Roman"/>
                <a:cs typeface="Times New Roman"/>
              </a:rPr>
              <a:t>Vizual manba (Unsplash): 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buNone/>
            </a:pPr>
            <a:r>
              <a:rPr lang="uz-UZ" sz="1200" b="0" i="1" dirty="0">
                <a:solidFill>
                  <a:srgbClr val="9FB8D8"/>
                </a:solidFill>
                <a:latin typeface="Times New Roman"/>
                <a:cs typeface="Times New Roman"/>
              </a:rPr>
              <a:t>https://unsplash.com/photos/modern-data-storage-technology-OqtafYT5kTw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329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27E0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tbar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5AA9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banner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00" y="880000"/>
            <a:ext cx="10820000" cy="1315000"/>
          </a:xfrm>
          <a:prstGeom prst="rect">
            <a:avLst/>
          </a:prstGeom>
        </p:spPr>
      </p:pic>
      <p:sp>
        <p:nvSpPr>
          <p:cNvPr id="6" name="thanks"/>
          <p:cNvSpPr>
            <a:spLocks noGrp="1"/>
          </p:cNvSpPr>
          <p:nvPr/>
        </p:nvSpPr>
        <p:spPr>
          <a:xfrm>
            <a:off x="686000" y="2500000"/>
            <a:ext cx="10820000" cy="23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4000" b="1" i="0" dirty="0">
                <a:solidFill>
                  <a:srgbClr val="27E0C8"/>
                </a:solidFill>
                <a:latin typeface="Times New Roman"/>
                <a:cs typeface="Times New Roman"/>
              </a:rPr>
              <a:t>E'tiboringiz uchun rahmat!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  <a:buNone/>
            </a:pPr>
            <a:r>
              <a:rPr lang="uz-UZ" sz="2200" b="0" i="1" dirty="0">
                <a:solidFill>
                  <a:srgbClr val="EAF2FF"/>
                </a:solidFill>
                <a:latin typeface="Times New Roman"/>
                <a:cs typeface="Times New Roman"/>
              </a:rPr>
              <a:t>Savollaringiz uchun ochiq maydon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  <a:buNone/>
            </a:pPr>
            <a:r>
              <a:rPr lang="uz-UZ" sz="1600" b="0" i="0" dirty="0">
                <a:solidFill>
                  <a:srgbClr val="9FB8D8"/>
                </a:solidFill>
                <a:latin typeface="Times New Roman"/>
                <a:cs typeface="Times New Roman"/>
              </a:rPr>
              <a:t>Toshboʻriyeva Marjona — 242_26-guruh</a:t>
            </a:r>
          </a:p>
        </p:txBody>
      </p:sp>
      <p:sp>
        <p:nvSpPr>
          <p:cNvPr id="7" name="url_caption"/>
          <p:cNvSpPr>
            <a:spLocks noGrp="1"/>
          </p:cNvSpPr>
          <p:nvPr/>
        </p:nvSpPr>
        <p:spPr>
          <a:xfrm>
            <a:off x="686000" y="6098000"/>
            <a:ext cx="10820000" cy="640000"/>
          </a:xfrm>
          <a:prstGeom prst="rect">
            <a:avLst/>
          </a:prstGeom>
          <a:solidFill>
            <a:srgbClr val="12294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uz-UZ" sz="1200" b="1" i="1" dirty="0">
                <a:solidFill>
                  <a:srgbClr val="5AA9FF"/>
                </a:solidFill>
                <a:latin typeface="Times New Roman"/>
                <a:cs typeface="Times New Roman"/>
              </a:rPr>
              <a:t>Vizual manba (Unsplash): 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buNone/>
            </a:pPr>
            <a:r>
              <a:rPr lang="uz-UZ" sz="1200" b="0" i="1" dirty="0">
                <a:solidFill>
                  <a:srgbClr val="9FB8D8"/>
                </a:solidFill>
                <a:latin typeface="Times New Roman"/>
                <a:cs typeface="Times New Roman"/>
              </a:rPr>
              <a:t>https://unsplash.com/photos/thank-you-note-on-digital-display-5QgIuuBxKwM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B1E3B"/>
      </a:dk2>
      <a:lt2>
        <a:srgbClr val="EAF2FF"/>
      </a:lt2>
      <a:accent1>
        <a:srgbClr val="27E0C8"/>
      </a:accent1>
      <a:accent2>
        <a:srgbClr val="5AA9FF"/>
      </a:accent2>
      <a:accent3>
        <a:srgbClr val="12294A"/>
      </a:accent3>
      <a:accent4>
        <a:srgbClr val="9FB8D8"/>
      </a:accent4>
      <a:accent5>
        <a:srgbClr val="061329"/>
      </a:accent5>
      <a:accent6>
        <a:srgbClr val="2E86DE"/>
      </a:accent6>
      <a:hlink>
        <a:srgbClr val="5AA9FF"/>
      </a:hlink>
      <a:folHlink>
        <a:srgbClr val="9FB8D8"/>
      </a:folHlink>
    </a:clrScheme>
    <a:fontScheme name="Off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OOXML Generator</Application>
  <Slides>10</Slides>
  <Company>Jizzax davlat pedagogika universiteti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Fleshkalar (USB) qanday qilib ma'lumot saqlaydi?</dc:title>
  <dc:creator>Toshboʻriyeva Marjona (242_26-guruh)</dc:creator>
  <cp:lastModifiedBy>Toshboʻriyeva Marjona</cp:lastModifiedBy>
  <dcterms:created xsi:type="dcterms:W3CDTF">2026-10-18T22:05:48Z</dcterms:created>
  <dcterms:modified xsi:type="dcterms:W3CDTF">2026-10-18T22:05:48Z</dcterms:modified>
</cp:coreProperties>
</file>